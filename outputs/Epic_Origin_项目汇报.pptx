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7031ee2c44467b" /><Relationship Type="http://schemas.openxmlformats.org/officeDocument/2006/relationships/extended-properties" Target="/docProps/app.xml" Id="Rcca4313611cb4a65" /><Relationship Type="http://schemas.openxmlformats.org/officeDocument/2006/relationships/officeDocument" Target="/ppt/presentation.xml" Id="Rd6f55a8a80e34be4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32b45039b0e1411d"/>
  </p:sldMasterIdLst>
  <p:notesMasterIdLst>
    <p:notesMasterId xmlns:r="http://schemas.openxmlformats.org/officeDocument/2006/relationships" r:id="Rcac18592a6484f96"/>
  </p:notesMasterIdLst>
  <p:sldIdLst>
    <p:sldId xmlns:r="http://schemas.openxmlformats.org/officeDocument/2006/relationships" id="256" r:id="Ra12db9fab5424a81"/>
    <p:sldId xmlns:r="http://schemas.openxmlformats.org/officeDocument/2006/relationships" id="257" r:id="R9f4c2a39f4bb45f7"/>
    <p:sldId xmlns:r="http://schemas.openxmlformats.org/officeDocument/2006/relationships" id="258" r:id="Ra45d47db0cd44b6d"/>
    <p:sldId xmlns:r="http://schemas.openxmlformats.org/officeDocument/2006/relationships" id="259" r:id="R726623550eda4572"/>
    <p:sldId xmlns:r="http://schemas.openxmlformats.org/officeDocument/2006/relationships" id="260" r:id="R9c4228ba32314651"/>
    <p:sldId xmlns:r="http://schemas.openxmlformats.org/officeDocument/2006/relationships" id="261" r:id="R16f917f73a4b4446"/>
    <p:sldId xmlns:r="http://schemas.openxmlformats.org/officeDocument/2006/relationships" id="262" r:id="R967a3bde659140e0"/>
    <p:sldId xmlns:r="http://schemas.openxmlformats.org/officeDocument/2006/relationships" id="263" r:id="Rd6c740c7b30444a3"/>
    <p:sldId xmlns:r="http://schemas.openxmlformats.org/officeDocument/2006/relationships" id="264" r:id="R7c793a070e844f1e"/>
    <p:sldId xmlns:r="http://schemas.openxmlformats.org/officeDocument/2006/relationships" id="265" r:id="R5a04496f107a4e22"/>
    <p:sldId xmlns:r="http://schemas.openxmlformats.org/officeDocument/2006/relationships" id="266" r:id="Rfc08988ee8794b70"/>
    <p:sldId xmlns:r="http://schemas.openxmlformats.org/officeDocument/2006/relationships" id="267" r:id="Rfc12462c2fec4fdd"/>
    <p:sldId xmlns:r="http://schemas.openxmlformats.org/officeDocument/2006/relationships" id="268" r:id="R01a7897c25094533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9a79552835bb468a"/>
      <p:bold xmlns:r="http://schemas.openxmlformats.org/officeDocument/2006/relationships" r:id="Rae7f1e139ea844be"/>
      <p:italic xmlns:r="http://schemas.openxmlformats.org/officeDocument/2006/relationships" r:id="R4329061520a54a37"/>
      <p:boldItalic xmlns:r="http://schemas.openxmlformats.org/officeDocument/2006/relationships" r:id="R39b280603917497e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82bc3db9b04a30" /><Relationship Type="http://schemas.openxmlformats.org/officeDocument/2006/relationships/slideMaster" Target="/ppt/slideMasters/slideMaster1.xml" Id="R32b45039b0e1411d" /><Relationship Type="http://schemas.openxmlformats.org/officeDocument/2006/relationships/notesMaster" Target="/ppt/notesMasters/notesMaster1.xml" Id="Rcac18592a6484f96" /><Relationship Type="http://schemas.openxmlformats.org/officeDocument/2006/relationships/presProps" Target="/ppt/presProps.xml" Id="R2405b46978bd4815" /><Relationship Type="http://schemas.openxmlformats.org/officeDocument/2006/relationships/viewProps" Target="/ppt/viewProps.xml" Id="R4ff5f9e835874e01" /><Relationship Type="http://schemas.openxmlformats.org/officeDocument/2006/relationships/tableStyles" Target="/ppt/tableStyles.xml" Id="R136115a8199e4125" /><Relationship Type="http://schemas.openxmlformats.org/officeDocument/2006/relationships/font" Target="/ppt/fonts/font.dat" Id="R9a79552835bb468a" /><Relationship Type="http://schemas.openxmlformats.org/officeDocument/2006/relationships/font" Target="/ppt/fonts/font2.dat" Id="Rae7f1e139ea844be" /><Relationship Type="http://schemas.openxmlformats.org/officeDocument/2006/relationships/font" Target="/ppt/fonts/font3.dat" Id="R4329061520a54a37" /><Relationship Type="http://schemas.openxmlformats.org/officeDocument/2006/relationships/font" Target="/ppt/fonts/font4.dat" Id="R39b280603917497e" /><Relationship Type="http://schemas.openxmlformats.org/officeDocument/2006/relationships/slide" Target="/ppt/slides/slide1.xml" Id="Ra12db9fab5424a81" /><Relationship Type="http://schemas.openxmlformats.org/officeDocument/2006/relationships/slide" Target="/ppt/slides/slide2.xml" Id="R9f4c2a39f4bb45f7" /><Relationship Type="http://schemas.openxmlformats.org/officeDocument/2006/relationships/slide" Target="/ppt/slides/slide3.xml" Id="Ra45d47db0cd44b6d" /><Relationship Type="http://schemas.openxmlformats.org/officeDocument/2006/relationships/slide" Target="/ppt/slides/slide4.xml" Id="R726623550eda4572" /><Relationship Type="http://schemas.openxmlformats.org/officeDocument/2006/relationships/slide" Target="/ppt/slides/slide5.xml" Id="R9c4228ba32314651" /><Relationship Type="http://schemas.openxmlformats.org/officeDocument/2006/relationships/slide" Target="/ppt/slides/slide6.xml" Id="R16f917f73a4b4446" /><Relationship Type="http://schemas.openxmlformats.org/officeDocument/2006/relationships/slide" Target="/ppt/slides/slide7.xml" Id="R967a3bde659140e0" /><Relationship Type="http://schemas.openxmlformats.org/officeDocument/2006/relationships/slide" Target="/ppt/slides/slide8.xml" Id="Rd6c740c7b30444a3" /><Relationship Type="http://schemas.openxmlformats.org/officeDocument/2006/relationships/slide" Target="/ppt/slides/slide9.xml" Id="R7c793a070e844f1e" /><Relationship Type="http://schemas.openxmlformats.org/officeDocument/2006/relationships/slide" Target="/ppt/slides/slide10.xml" Id="R5a04496f107a4e22" /><Relationship Type="http://schemas.openxmlformats.org/officeDocument/2006/relationships/slide" Target="/ppt/slides/slide11.xml" Id="Rfc08988ee8794b70" /><Relationship Type="http://schemas.openxmlformats.org/officeDocument/2006/relationships/slide" Target="/ppt/slides/slide12.xml" Id="Rfc12462c2fec4fdd" /><Relationship Type="http://schemas.openxmlformats.org/officeDocument/2006/relationships/slide" Target="/ppt/slides/slide13.xml" Id="R01a7897c250945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055f803d334c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62054835e44fa7" /><Relationship Type="http://schemas.openxmlformats.org/officeDocument/2006/relationships/notesMaster" Target="/ppt/notesMasters/notesMaster1.xml" Id="R528013c863e841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24f18ce9054b6a" /><Relationship Type="http://schemas.openxmlformats.org/officeDocument/2006/relationships/notesMaster" Target="/ppt/notesMasters/notesMaster1.xml" Id="Rd561e390f25948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dbde383b6e4f5b" /><Relationship Type="http://schemas.openxmlformats.org/officeDocument/2006/relationships/notesMaster" Target="/ppt/notesMasters/notesMaster1.xml" Id="R37190d7edec040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659f579b0f4f41" /><Relationship Type="http://schemas.openxmlformats.org/officeDocument/2006/relationships/notesMaster" Target="/ppt/notesMasters/notesMaster1.xml" Id="Rf91034d704f04e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cfd22cff20422c" /><Relationship Type="http://schemas.openxmlformats.org/officeDocument/2006/relationships/notesMaster" Target="/ppt/notesMasters/notesMaster1.xml" Id="R8a5bd3ef9f4b48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c01ad5b8324ec8" /><Relationship Type="http://schemas.openxmlformats.org/officeDocument/2006/relationships/notesMaster" Target="/ppt/notesMasters/notesMaster1.xml" Id="R71b9211a67a944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3bb5039bf749ae" /><Relationship Type="http://schemas.openxmlformats.org/officeDocument/2006/relationships/notesMaster" Target="/ppt/notesMasters/notesMaster1.xml" Id="Rf3b328acd84e43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6a834e238e4470" /><Relationship Type="http://schemas.openxmlformats.org/officeDocument/2006/relationships/notesMaster" Target="/ppt/notesMasters/notesMaster1.xml" Id="R7cc6fc88b3a641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ef932354d4485e" /><Relationship Type="http://schemas.openxmlformats.org/officeDocument/2006/relationships/notesMaster" Target="/ppt/notesMasters/notesMaster1.xml" Id="R392a3af1affe4c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430899db1c4172" /><Relationship Type="http://schemas.openxmlformats.org/officeDocument/2006/relationships/notesMaster" Target="/ppt/notesMasters/notesMaster1.xml" Id="R7df6e12229dd4c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42ce4305fb439b" /><Relationship Type="http://schemas.openxmlformats.org/officeDocument/2006/relationships/notesMaster" Target="/ppt/notesMasters/notesMaster1.xml" Id="R348708c7b4db48b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20de01aaca403f" /><Relationship Type="http://schemas.openxmlformats.org/officeDocument/2006/relationships/notesMaster" Target="/ppt/notesMasters/notesMaster1.xml" Id="R8656ed5e5bb34aa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a0457be28594550" /><Relationship Type="http://schemas.openxmlformats.org/officeDocument/2006/relationships/notesMaster" Target="/ppt/notesMasters/notesMaster1.xml" Id="R3f9800e7de3143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开场：项目历时 6 周，由 6 人团队完成。接下来依次展示玩法、架构、技术实现与测试结果。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用本页交代答辩结构，随后直接进入游戏体验。第六行留空以保留原模板节奏。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此处配合演示视频说明：选择种族后进入地图，探索、战斗、建设不断循环，目标是攻占敌方据点。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强调这不是单一战斗系统，而是地图探索、资源经营、卡牌战斗与终局判定组成的策略闭环。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从底向上介绍数据、持久化、地图、战斗、AI、音频、UI 七层；GameManager 协调主循环而不吞没各层职责。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三条继承链直接回应课程的继承层次要求，也让后续新增格子、兵种或 AI 难度保持局部改动。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用这一行代码说明多态：调用点不需要知道具体子类，符合开闭原则，也便于扩展新的地图交互。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先讲地图可玩性，再讲进度安全性。FloodFill 与 BFS 解决“能不能走到”的问题，JSON 快照解决“能不能恢复”的问题。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规则本身并不等于体验：AI 让对局持续推进，协程动画让伤害结算可感知，音频使每个操作都有反馈。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测试并非只测规则：既有 NUnit 的确定性验证，也有完整流程、边界状态和组外试玩的体验验证。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本页对照课程指标收束工程量。63 个自写 C# 源文件中包含 5 个测试文件；功能、界面与文件处理也都已落实。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说明 AI 编程助手的边界：用于重复、规则明确的模板代码，不替代玩法设计和核心逻辑判断。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结束：重申项目已满足课程要求，并邀请老师提问。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bbf154c1b9477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4883d252be413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cab6bd94834a5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d540e5eff74d2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b12335362d427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e336bff4eb46a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76cd081b20456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54fae857fe4002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94053d75bd469a" /><Relationship Type="http://schemas.openxmlformats.org/officeDocument/2006/relationships/slideLayout" Target="/ppt/slideLayouts/slideLayout1.xml" Id="Rf9aa61a7b0814b1f" /><Relationship Type="http://schemas.openxmlformats.org/officeDocument/2006/relationships/slideLayout" Target="/ppt/slideLayouts/slideLayout2.xml" Id="Rdd603443ca9c4f05" /><Relationship Type="http://schemas.openxmlformats.org/officeDocument/2006/relationships/slideLayout" Target="/ppt/slideLayouts/slideLayout3.xml" Id="R35cf2690ede04f9e" /><Relationship Type="http://schemas.openxmlformats.org/officeDocument/2006/relationships/slideLayout" Target="/ppt/slideLayouts/slideLayout4.xml" Id="R9f08c1baeb2a4a71" /><Relationship Type="http://schemas.openxmlformats.org/officeDocument/2006/relationships/slideLayout" Target="/ppt/slideLayouts/slideLayout5.xml" Id="R38fc980ba94a4a26" /><Relationship Type="http://schemas.openxmlformats.org/officeDocument/2006/relationships/slideLayout" Target="/ppt/slideLayouts/slideLayout6.xml" Id="R1d99ecb77c1646d4" /><Relationship Type="http://schemas.openxmlformats.org/officeDocument/2006/relationships/slideLayout" Target="/ppt/slideLayouts/slideLayout7.xml" Id="Re9e3cebbadd248a0" /><Relationship Type="http://schemas.openxmlformats.org/officeDocument/2006/relationships/slideLayout" Target="/ppt/slideLayouts/slideLayout8.xml" Id="Racba465bc2bf461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aa61a7b0814b1f"/>
    <p:sldLayoutId xmlns:r="http://schemas.openxmlformats.org/officeDocument/2006/relationships" id="2147483650" r:id="Rdd603443ca9c4f05"/>
    <p:sldLayoutId xmlns:r="http://schemas.openxmlformats.org/officeDocument/2006/relationships" id="2147483651" r:id="R35cf2690ede04f9e"/>
    <p:sldLayoutId xmlns:r="http://schemas.openxmlformats.org/officeDocument/2006/relationships" id="2147483652" r:id="R9f08c1baeb2a4a71"/>
    <p:sldLayoutId xmlns:r="http://schemas.openxmlformats.org/officeDocument/2006/relationships" id="2147483653" r:id="R38fc980ba94a4a26"/>
    <p:sldLayoutId xmlns:r="http://schemas.openxmlformats.org/officeDocument/2006/relationships" id="2147483654" r:id="R1d99ecb77c1646d4"/>
    <p:sldLayoutId xmlns:r="http://schemas.openxmlformats.org/officeDocument/2006/relationships" id="2147483655" r:id="Re9e3cebbadd248a0"/>
    <p:sldLayoutId xmlns:r="http://schemas.openxmlformats.org/officeDocument/2006/relationships" id="2147483656" r:id="Racba465bc2bf461e"/>
  </p:sldLayoutIdLst>
  <p:hf hdr="0" dt="0"/>
  <p:txStyles>
    <p:titleStyle>
      <a:lvl1pPr xmlns:a="http://schemas.openxmlformats.org/drawingml/2006/main" algn="l">
        <a:lnSpc>
          <a:spcPct val="90000"/>
        </a:lnSpc>
        <a:buNone/>
        <a:defRPr sz="2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bdf8136624c58" /><Relationship Type="http://schemas.openxmlformats.org/officeDocument/2006/relationships/image" Target="/ppt/media/image.png" Id="R990d1e188a5d4cc5" /><Relationship Type="http://schemas.openxmlformats.org/officeDocument/2006/relationships/notesSlide" Target="/ppt/notesSlides/notesSlide1.xml" Id="R0bbc4fc9d64a4c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e0657a3ed04645" /><Relationship Type="http://schemas.openxmlformats.org/officeDocument/2006/relationships/notesSlide" Target="/ppt/notesSlides/notesSlide2.xml" Id="Rf813ddfa984b4c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d46f16b0d5424f" /><Relationship Type="http://schemas.openxmlformats.org/officeDocument/2006/relationships/notesSlide" Target="/ppt/notesSlides/notesSlide3.xml" Id="R5c640d857bca49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0fa1fd3da74631" /><Relationship Type="http://schemas.openxmlformats.org/officeDocument/2006/relationships/notesSlide" Target="/ppt/notesSlides/notesSlide4.xml" Id="Re98047795cc64d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11bb4106f14dcb" /><Relationship Type="http://schemas.openxmlformats.org/officeDocument/2006/relationships/notesSlide" Target="/ppt/notesSlides/notesSlide5.xml" Id="R3cd9bb5af7c140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5e13b28f314936" /><Relationship Type="http://schemas.openxmlformats.org/officeDocument/2006/relationships/notesSlide" Target="/ppt/notesSlides/notesSlide6.xml" Id="R27cabb27034347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f4e46a50e84035" /><Relationship Type="http://schemas.openxmlformats.org/officeDocument/2006/relationships/notesSlide" Target="/ppt/notesSlides/notesSlide7.xml" Id="R753f8c488e304a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3e4ff651c4476b" /><Relationship Type="http://schemas.openxmlformats.org/officeDocument/2006/relationships/notesSlide" Target="/ppt/notesSlides/notesSlide8.xml" Id="Rea2098acb6584b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240315de8a4443" /><Relationship Type="http://schemas.openxmlformats.org/officeDocument/2006/relationships/notesSlide" Target="/ppt/notesSlides/notesSlide9.xml" Id="R1b583008a19746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a5aa76ed934e0f" /><Relationship Type="http://schemas.openxmlformats.org/officeDocument/2006/relationships/notesSlide" Target="/ppt/notesSlides/notesSlide10.xml" Id="Rc01e91c47c9f43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eea66d541d40b7" /><Relationship Type="http://schemas.openxmlformats.org/officeDocument/2006/relationships/notesSlide" Target="/ppt/notesSlides/notesSlide11.xml" Id="R348f80811f6542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4edab373be406c" /><Relationship Type="http://schemas.openxmlformats.org/officeDocument/2006/relationships/notesSlide" Target="/ppt/notesSlides/notesSlide12.xml" Id="Rd66ab79bc4f3464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4bb2917fb454b" /><Relationship Type="http://schemas.openxmlformats.org/officeDocument/2006/relationships/notesSlide" Target="/ppt/notesSlides/notesSlide13.xml" Id="Rd1cb3ff255c842f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15733" y="1907316"/>
            <a:ext cx="7174888" cy="249149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rPr sz="6200"/>
              <a:t>Epic Origin</a:t>
            </a:r>
          </a:p>
          <a:p xmlns:a="http://schemas.openxmlformats.org/drawingml/2006/main">
            <a:r>
              <a:rPr sz="6200"/>
              <a:t>史诗起点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5733" y="5264722"/>
            <a:ext cx="6910483" cy="1080246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r>
              <a:rPr sz="1800"/>
              <a:t>2D 回合制策略卡牌游戏</a:t>
            </a:r>
          </a:p>
          <a:p xmlns:a="http://schemas.openxmlformats.org/drawingml/2006/main">
            <a:r>
              <a:rPr sz="1800"/>
              <a:t>课程项目答辩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34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10 分钟项目汇报</a:t>
            </a:r>
          </a:p>
        </p:txBody>
      </p:sp>
      <p:pic>
        <p:nvPicPr>
          <p:cNvPr id="1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0d1e188a5d4cc5"/>
          <a:srcRect xmlns:a="http://schemas.openxmlformats.org/drawingml/2006/main" l="8269" t="0" r="8269" b="0"/>
          <a:stretch xmlns:a="http://schemas.openxmlformats.org/drawingml/2006/main"/>
        </p:blipFill>
        <p:spPr>
          <a:xfrm xmlns:a="http://schemas.openxmlformats.org/drawingml/2006/main">
            <a:off x="7899094" y="0"/>
            <a:ext cx="4292906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FC4FC7-396D-BE8D-1F0E-C849A74CA5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Epic Origin · 课程项目答辩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本次汇报的五个重点</a:t>
            </a:r>
          </a:p>
        </p:txBody>
      </p:sp>
      <p:graphicFrame>
        <p:nvGraphicFramePr>
          <p:cNvPr id="10" name="Table 3"/>
          <p:cNvGraphicFramePr/>
          <p:nvPr/>
        </p:nvGraphicFramePr>
        <p:xfrm>
          <a:off xmlns:a="http://schemas.openxmlformats.org/drawingml/2006/main" x="393700" y="2080009"/>
          <a:ext xmlns:a="http://schemas.openxmlformats.org/drawingml/2006/main" cx="11404600" cy="391438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509"/>
                <a:gridCol w="10526091"/>
              </a:tblGrid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项目成果与游戏体验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系统架构与面向对象设计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五项核心技术实现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测试、试玩与课程指标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总结与提问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8774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Epic Origin · 课程项目答辩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128303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从探索到征服：一局游戏的核心体验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卡牌对战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攻方出牌、守方应战、翻面结算；种族克制直接影响伤害。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据点与终局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采集资源、升级据点、召唤兵种，最终攻占敌方据点。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EC1020B-1BFB-C461-94A3-B04496D4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06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BF9CE9B1-F78E-2E93-3127-A76A196D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7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探索地图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资源点、随机事件与兵营分布在网格中；英雄按曼哈顿距离移动。</a:t>
            </a:r>
          </a:p>
        </p:txBody>
      </p:sp>
      <p:sp>
        <p:nvSpPr>
          <p:cNvPr id="8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FAB1693-7B48-B899-1715-D7B6F34D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98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4ED89C7-2856-344F-42B0-44B6A09E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1" y="145052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16×10 网格地图 · 每回合最多移动 3 步 · 20 回合决胜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Epic Origin · 课程项目答辩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完整玩法把策略选择串成一个循环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选择种族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人族、天堂、鬼族构成克制循环，为开局策略定调。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探索地图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按曼哈顿距离移动，采集金币与建材，触发事件与兵营。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建设与扩张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升级据点，解锁更高等级单位，逐步强化卡组战力。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战斗与终局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兵营战斗、攻占据点；回合上限后按战力与资源判定胜负。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Epic Origin · 课程项目答辩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七层架构分离数据、流程与表现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GameSession 持有跨场景状态；各层通过清晰职责协作，降低系统耦合。 </a:t>
            </a:r>
          </a:p>
        </p:txBody>
      </p:sp>
      <p:graphicFrame>
        <p:nvGraphicFramePr>
          <p:cNvPr id="539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层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核心类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主要职责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关键机制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输出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数据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Unit / Card / Deck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可序列化模型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兵种与卡组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游戏数据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持久化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Session / Save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保存运行快照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JSON 读写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存档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地图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MapGen / MapMgr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网格与路径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FloodFill / BFS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可达地图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战斗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BattleUI / Logic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卡牌对决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回合结算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胜负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AI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EasyAI / HardAI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执行回合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优先级与寻路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行动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音频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AudioManager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BGM 与音效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场景调度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反馈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UI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场景 / 弹窗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输入与呈现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状态同步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交互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协调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GameManager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推进主循环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事件分发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完整流程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BA02CCA-F21B-9365-60C4-CCFEB9244CC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Epic Origin · 课程项目答辩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3B21B056-C0DC-9927-7975-E8A8720D325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2D86C57-5A36-A9CA-FBAE-7FD6A93121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三条继承链把变化点收敛在抽象接口后</a:t>
            </a:r>
          </a:p>
        </p:txBody>
      </p:sp>
      <p:sp>
        <p:nvSpPr>
          <p:cNvPr id="5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CF52371F-8816-97E4-7F6A-234DB3FE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Helvetica Neue"/>
                <a:ea typeface="Helvetica Neue"/>
                <a:cs typeface="Helvetica Neue"/>
              </a:rPr>
              <a:t>Tile 地图格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Helvetica Neue"/>
                <a:ea typeface="Helvetica Neue"/>
                <a:cs typeface="Helvetica Neue"/>
              </a:rPr>
              <a:t>抽象定义 IsWalkable 与 OnHeroEnter；6 个子类分别处理空地、资源、兵营、事件、据点与障碍。</a:t>
            </a:r>
          </a:p>
        </p:txBody>
      </p:sp>
      <p:sp>
        <p:nvSpPr>
          <p:cNvPr id="6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B35EA25F-F28D-25C7-A5DF-16A7EADF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Helvetica Neue"/>
                <a:ea typeface="Helvetica Neue"/>
                <a:cs typeface="Helvetica Neue"/>
              </a:rPr>
              <a:t>Unit 兵种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Helvetica Neue"/>
                <a:ea typeface="Helvetica Neue"/>
                <a:cs typeface="Helvetica Neue"/>
              </a:rPr>
              <a:t>抽象定义 Name、Attack、HP、RaceType；三大种族扩展各自单位等级与数值。</a:t>
            </a:r>
          </a:p>
        </p:txBody>
      </p:sp>
      <p:sp>
        <p:nvSpPr>
          <p:cNvPr id="7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6E61CDC3-05E3-B689-0BCE-9014DDCB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Helvetica Neue"/>
                <a:ea typeface="Helvetica Neue"/>
                <a:cs typeface="Helvetica Neue"/>
              </a:rPr>
              <a:t>AI 控制器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Helvetica Neue"/>
                <a:ea typeface="Helvetica Neue"/>
                <a:cs typeface="Helvetica Neue"/>
              </a:rPr>
              <a:t>抽象定义 ExecuteTurn；EasyAI 随机移动，HardAI 寻路、升级并积极进攻。</a:t>
            </a:r>
          </a:p>
        </p:txBody>
      </p:sp>
      <p:sp>
        <p:nvSpPr>
          <p:cNvPr id="8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2E9332F7-1AC8-A3A0-635E-D70D0C3E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382303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1F6EAF7D-166C-52A8-35F4-18CE1043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3378212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56E3A8EC-7B67-B778-5CC6-BC028292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597" y="3406849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534396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Epic Origin · 课程项目答辩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一次调用，交由运行时完成正确的格子行为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currentTile.OnHeroEnter()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GameManager 只依赖 Tile 抽象基类。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资源格 → 增加资源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英雄移动到目标格后只调用 currentTile.OnHeroEnter()。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运行时会分派到对应子类：资源格增加资源、兵营格触发战斗、事件格掷骰结算、据点格进入管理或胜负判定。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新增 Tile 时只需继承并重写方法，原有逻辑无需修改。 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兵营格 → 触发战斗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事件格 → 随机结算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据点格 → 管理或终局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新增格子 → 扩展不改旧代码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Epic Origin · 课程项目答辩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644297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两项基础能力：可达地图与可恢复进度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地图生成与可达性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MapGenerator 748 行：固定双方据点，随机布置资源、兵营、事件与障碍。 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• 16×10 网格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• FloodFill 防止死局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• BFS 检测目标路径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存档与状态快照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GameRunState 保存回合、双方数据、地图状态与英雄位置；SaveSystem 封装 JSON 文件操作。 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• 3 个手动存档位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• 1 个自动存档位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• 每回合结束自动保存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地图生成与存档都以“玩家不会因系统问题失去一局游戏”为目标。 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Epic Origin · 课程项目答辩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AI、动画与音频把规则转化为连贯反馈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三套系统分别负责决策、表现与沉浸感。 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AI 决策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优先升级 → 召唤 → 移动；HardAI 按距离选资源点，战斗中按克制选择出牌。 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战斗动画与音频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BattleUI 用 14 步协程串联翻牌、聚集、对决、结算与归位。AudioManager 管理 4 首 BGM 与 17 种音效。 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Epic Origin · 课程项目答辩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测试同时覆盖规则正确性、状态恢复与交互稳定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5017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流程测试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从种族选择到结算；验证资源不足、卡组为空、读档恢复与多回合对局。 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5017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单元测试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5 个 NUnit 测试文件，覆盖战斗克制、胜负、BFS、存档 I/O 与 AI 规则。 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5017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试玩反馈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卡牌翻转与飞入飞出增强沉浸感；已记录更多随机事件和更快结算的建议。 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5017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边界与稳定性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检查 AI 不死循环、高频点击 UI 不崩溃，以及英雄动画和 UI 位置保持。 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自动化与手动测试共同验证完整游戏流程。 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Epic Origin · 课程项目答辩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关键交付物逐项满足课程要求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63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latin typeface="Helvetica Neue Medium"/>
                <a:ea typeface="Helvetica Neue Medium"/>
                <a:cs typeface="Helvetica Neue Medium"/>
              </a:rPr>
              <a:t>C# 源文件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10,000+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latin typeface="Helvetica Neue Medium"/>
                <a:ea typeface="Helvetica Neue Medium"/>
                <a:cs typeface="Helvetica Neue Medium"/>
              </a:rPr>
              <a:t>原创代码行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3 条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latin typeface="Helvetica Neue Medium"/>
                <a:ea typeface="Helvetica Neue Medium"/>
                <a:cs typeface="Helvetica Neue Medium"/>
              </a:rPr>
              <a:t>继承链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4 个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latin typeface="Helvetica Neue Medium"/>
                <a:ea typeface="Helvetica Neue Medium"/>
                <a:cs typeface="Helvetica Neue Medium"/>
              </a:rPr>
              <a:t>存档位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课程要求：不少于 5 个类、2 层继承、2000 行代码，并支持文件读写与图形界面。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项目已形成 5 个场景、2 个弹窗与完整 JSON 存档流程，全部覆盖。 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Epic Origin · 课程项目答辩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团队把重复劳动交给工具，把精力留给玩法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AI 编程助手用于批量生成规则明确的模板代码。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三个种族的兵种类、Tile 子类与 UI 入场动画结构相似；团队据此减少重复劳动，把精力集中到核心玩法逻辑与体验打磨。 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最终交付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一个可玩的 2D 回合制策略卡牌游戏：地图探索、卡牌对战、AI、存档、音频与测试构成完整闭环。 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371269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《Epic Origin》</a:t>
            </a:r>
          </a:p>
          <a:p xmlns:a="http://schemas.openxmlformats.org/drawingml/2006/main">
            <a:r>
              <a:rPr sz="7200"/>
              <a:t>策略、工程与可玩性的完整闭环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6157826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项目汇报完毕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E41470-6E36-D08D-AC35-CBDFACEF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/>
              <a:t>感谢各位老师聆听</a:t>
            </a:r>
          </a:p>
          <a:p xmlns:a="http://schemas.openxmlformats.org/drawingml/2006/main">
            <a:pPr algn="r">
              <a:buNone/>
            </a:pPr>
            <a:r>
              <a:rPr sz="1800"/>
              <a:t>欢迎提问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2026-07-10T09:19:04.4310000Z</dcterms:created>
  <dcterms:modified xsi:type="dcterms:W3CDTF">2026-07-10T09:19:04.4310000Z</dcterms:modified>
</coreProperties>
</file>